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Referral Completion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Referrals Completed On Time</c:v>
                </c:pt>
              </c:strCache>
            </c:strRef>
          </c:tx>
          <c:spPr>
            <a:solidFill>
              <a:srgbClr val="0B5D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District A</c:v>
                  </c:pt>
                  <c:pt idx="1">
                    <c:v>District B</c:v>
                  </c:pt>
                  <c:pt idx="2">
                    <c:v>District C</c:v>
                  </c:pt>
                  <c:pt idx="3">
                    <c:v>District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64</c:v>
                </c:pt>
                <c:pt idx="2">
                  <c:v>90</c:v>
                </c:pt>
                <c:pt idx="3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16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16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B5D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AMHOS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Maternal Health Operating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village to hospital — one continuous, risk-aware pathway.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&amp; INVESTOR BRIEFING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preventable crisis, concentrated in one region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carries the heaviest share of a largely preventable global health burden.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5F9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maternal deaths occur in sub-Saharan Africa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0574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5F9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63440" y="34290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deaths per 100,000 live births — vs. 197 globally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574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5F9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260,000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58200" y="34290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died from pregnancy or childbirth complications worldwide in 2023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WHO, UNICEF, UNFPA, World Bank Group — Trends in Maternal Mortality, 2023 estimates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clinical problem. A coordination problem.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5506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904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with no early risk triage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1518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505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referrals that arrive with no clinical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7530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107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follow-up in the critical 0–48 hour postpartum window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3542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708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officials working from delayed, retrospective reports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303520" cy="3017520"/>
          </a:xfrm>
          <a:prstGeom prst="roundRect">
            <a:avLst>
              <a:gd name="adj" fmla="val 3636"/>
            </a:avLst>
          </a:prstGeom>
          <a:solidFill>
            <a:srgbClr val="F5F9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17373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7490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52560" y="37490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73252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2240280"/>
            <a:ext cx="1874520" cy="9144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178040" y="4251960"/>
            <a:ext cx="1874520" cy="9144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178040" y="2240280"/>
            <a:ext cx="9144" cy="201168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052560" y="2240280"/>
            <a:ext cx="9144" cy="201168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309360" y="4480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point where a mother can be lost.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5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AMHOS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connective layer that turns four disconnected actors into one continuous workflow.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is an offline-first, interoperable operating layer that unifies pregnant women, community health workers, clinics and hospitals, and emergency transport into a single real-time record — guided by advisory AI risk stratification.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52560" y="1874520"/>
            <a:ext cx="1874520" cy="1874520"/>
          </a:xfrm>
          <a:prstGeom prst="line">
            <a:avLst/>
          </a:prstGeom>
          <a:noFill/>
          <a:ln w="25400">
            <a:solidFill>
              <a:srgbClr val="CF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3749040"/>
            <a:ext cx="1874520" cy="1874520"/>
          </a:xfrm>
          <a:prstGeom prst="line">
            <a:avLst/>
          </a:prstGeom>
          <a:noFill/>
          <a:ln w="25400">
            <a:solidFill>
              <a:srgbClr val="CFE7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3749040"/>
            <a:ext cx="1874520" cy="1874520"/>
          </a:xfrm>
          <a:prstGeom prst="line">
            <a:avLst/>
          </a:prstGeom>
          <a:noFill/>
          <a:ln w="25400">
            <a:solidFill>
              <a:srgbClr val="CFE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1874520"/>
            <a:ext cx="1874520" cy="1874520"/>
          </a:xfrm>
          <a:prstGeom prst="line">
            <a:avLst/>
          </a:prstGeom>
          <a:noFill/>
          <a:ln w="25400">
            <a:solidFill>
              <a:srgbClr val="CFE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9640" y="137160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424160" y="324612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49640" y="512064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5303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24612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one pathway, five stages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3000" y="3886200"/>
            <a:ext cx="9902952" cy="9144"/>
          </a:xfrm>
          <a:prstGeom prst="line">
            <a:avLst/>
          </a:prstGeom>
          <a:noFill/>
          <a:ln w="38100">
            <a:solidFill>
              <a:srgbClr val="CFE7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291840"/>
            <a:ext cx="1188720" cy="11887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21558" y="329184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3321558" y="3291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18638" y="4663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Triage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76" y="3291840"/>
            <a:ext cx="1188720" cy="11887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9"/>
          <p:cNvSpPr/>
          <p:nvPr/>
        </p:nvSpPr>
        <p:spPr>
          <a:xfrm>
            <a:off x="6094476" y="3291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91556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7394" y="3291840"/>
            <a:ext cx="1188720" cy="11887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4" name="Text 12"/>
          <p:cNvSpPr/>
          <p:nvPr/>
        </p:nvSpPr>
        <p:spPr>
          <a:xfrm>
            <a:off x="8867394" y="3291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4474" y="4663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640312" y="3291840"/>
            <a:ext cx="1188720" cy="11887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7" name="Text 15"/>
          <p:cNvSpPr/>
          <p:nvPr/>
        </p:nvSpPr>
        <p:spPr>
          <a:xfrm>
            <a:off x="11640312" y="3291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37392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Postnatal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(48h)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5F9F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2064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writes to one continuous, event-sourced record — visible to the CHW, the receiving facility, and the district dashboard alike.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on the ground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08676" cy="502920"/>
          </a:xfrm>
          <a:prstGeom prst="roundRect">
            <a:avLst>
              <a:gd name="adj" fmla="val 14545"/>
            </a:avLst>
          </a:prstGeom>
          <a:solidFill>
            <a:srgbClr val="E4E9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5408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31636" y="1463040"/>
            <a:ext cx="5408676" cy="502920"/>
          </a:xfrm>
          <a:prstGeom prst="roundRect">
            <a:avLst>
              <a:gd name="adj" fmla="val 14545"/>
            </a:avLst>
          </a:prstGeom>
          <a:solidFill>
            <a:srgbClr val="0B5D52"/>
          </a:solidFill>
          <a:ln/>
        </p:spPr>
      </p:sp>
      <p:sp>
        <p:nvSpPr>
          <p:cNvPr id="6" name="Text 4"/>
          <p:cNvSpPr/>
          <p:nvPr/>
        </p:nvSpPr>
        <p:spPr>
          <a:xfrm>
            <a:off x="6231636" y="1463040"/>
            <a:ext cx="5408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AMHOS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08676" cy="73152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registers, no risk triage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2103120"/>
            <a:ext cx="5408676" cy="731520"/>
          </a:xfrm>
          <a:prstGeom prst="rect">
            <a:avLst/>
          </a:prstGeom>
          <a:solidFill>
            <a:srgbClr val="EDF5F3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2103120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risk stratification at first contact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5408676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4368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referrals with no tracking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1636" y="2944368"/>
            <a:ext cx="5408676" cy="731520"/>
          </a:xfrm>
          <a:prstGeom prst="rect">
            <a:avLst/>
          </a:prstGeom>
          <a:solidFill>
            <a:srgbClr val="ED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2944368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referrals with advance hospital visibility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85616"/>
            <a:ext cx="5408676" cy="73152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85616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(or no) postpartum follow-up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1636" y="3785616"/>
            <a:ext cx="5408676" cy="731520"/>
          </a:xfrm>
          <a:prstGeom prst="rect">
            <a:avLst/>
          </a:prstGeom>
          <a:solidFill>
            <a:srgbClr val="EDF5F3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3785616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task orchestration through the 48-hour window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5408676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26864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retrospective reports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1636" y="4626864"/>
            <a:ext cx="5408676" cy="731520"/>
          </a:xfrm>
          <a:prstGeom prst="rect">
            <a:avLst/>
          </a:prstGeom>
          <a:solidFill>
            <a:srgbClr val="EDF5F3"/>
          </a:solidFill>
          <a:ln/>
        </p:spPr>
      </p:sp>
      <p:sp>
        <p:nvSpPr>
          <p:cNvPr id="22" name="Text 20"/>
          <p:cNvSpPr/>
          <p:nvPr/>
        </p:nvSpPr>
        <p:spPr>
          <a:xfrm>
            <a:off x="6460236" y="4626864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dashboards for district &amp; national teams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68112"/>
            <a:ext cx="5408676" cy="731520"/>
          </a:xfrm>
          <a:prstGeom prst="rect">
            <a:avLst/>
          </a:prstGeom>
          <a:solidFill>
            <a:srgbClr val="F7F7F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68112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fail without signal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1636" y="5468112"/>
            <a:ext cx="5408676" cy="731520"/>
          </a:xfrm>
          <a:prstGeom prst="rect">
            <a:avLst/>
          </a:prstGeom>
          <a:solidFill>
            <a:srgbClr val="EDF5F3"/>
          </a:solidFill>
          <a:ln/>
        </p:spPr>
      </p:sp>
      <p:sp>
        <p:nvSpPr>
          <p:cNvPr id="26" name="Text 24"/>
          <p:cNvSpPr/>
          <p:nvPr/>
        </p:nvSpPr>
        <p:spPr>
          <a:xfrm>
            <a:off x="6460236" y="5468112"/>
            <a:ext cx="49971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functionality with local queuing and 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where the need is greatest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not offline-tolerant — every core workflow completes with zero connectivity.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842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registration, risk assessment, and scheduling work with no signal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072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queue locally, encrypted on-device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6301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sync the moment connectivity returns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 fall back to SMS/USSD if data sync is unavailable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5F9F8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3145536"/>
            <a:ext cx="45720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61120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5F9F8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Queue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698480" y="3145536"/>
            <a:ext cx="45720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55680" y="246888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0" y="24688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Reconnect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42062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2G, intermittent connectivity, and last-mile devices.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AI, not autonomous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 is tiered so it works offline first and improves with data over time.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F5F9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212080" cy="77724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Rules-Based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· fully offline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flags from established clinical risk factors — prior C-section, hypertension, adolescent pregnancy, hemorrhage history.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F5F9F8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2011680"/>
            <a:ext cx="521208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ML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Cloud-side · decision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scoring from aggregated outcome data over time. Every flag shows its contributing factors and is reviewed by clinical staff — never an autonomous diagnosis.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&amp; transport, tracked end to 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referral is a stateful record, not a message — timestamped at every transition.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5D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871216"/>
            <a:ext cx="372618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41498" y="2377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5D52"/>
          </a:solidFill>
          <a:ln/>
        </p:spPr>
      </p:sp>
      <p:sp>
        <p:nvSpPr>
          <p:cNvPr id="8" name="Text 6"/>
          <p:cNvSpPr/>
          <p:nvPr/>
        </p:nvSpPr>
        <p:spPr>
          <a:xfrm>
            <a:off x="2841498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61738" y="2871216"/>
            <a:ext cx="372618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34356" y="2377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5D52"/>
          </a:solidFill>
          <a:ln/>
        </p:spPr>
      </p:sp>
      <p:sp>
        <p:nvSpPr>
          <p:cNvPr id="11" name="Text 9"/>
          <p:cNvSpPr/>
          <p:nvPr/>
        </p:nvSpPr>
        <p:spPr>
          <a:xfrm>
            <a:off x="5134356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54596" y="2871216"/>
            <a:ext cx="372618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27214" y="2377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B5D52"/>
          </a:solidFill>
          <a:ln/>
        </p:spPr>
      </p:sp>
      <p:sp>
        <p:nvSpPr>
          <p:cNvPr id="14" name="Text 12"/>
          <p:cNvSpPr/>
          <p:nvPr/>
        </p:nvSpPr>
        <p:spPr>
          <a:xfrm>
            <a:off x="7427214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47454" y="2871216"/>
            <a:ext cx="372618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20072" y="2377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720072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F5F9F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605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visibility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facility sees risk factors, gestational age, and vitals before the patient arrives. Referrals exceeding expected transit time are flagged automatically — surfacing systemic transport bottlenecks, not just individual case failures.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visibility for health system leaders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44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view: incoming referral queue, today's scheduled checks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view: registration rates, risk distribution, referral timelines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986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view: coverage gaps by geography, live indicators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46304" cy="146304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75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patient data restricted to care teams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92240" y="15087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8920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5F9F8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8920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dashboards replace quarterly retrospective reports — enabling targeted intervention while it still matters.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5F9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connect, not compete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FHIR, OpenHIE, and DHIS2 — systems many Ministries of Health already run — rather than asking them to replace what's in place.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5F9F8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8745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5146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policy alignment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2030 Sustainable Development Goal target for maternal mortality creates sustained donor and government focus on exactly this problem.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5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1874520"/>
            <a:ext cx="502920" cy="5029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9640" y="25146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widening technology gap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49640" y="32004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smartphone and mobile connectivity access among CHWs makes offline-first, sync-when-possible tools newly practical at scale.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scale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0B5D5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district, single country. Prove the core workflow end to end.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3557016"/>
            <a:ext cx="405384" cy="9144"/>
          </a:xfrm>
          <a:prstGeom prst="line">
            <a:avLst/>
          </a:prstGeom>
          <a:noFill/>
          <a:ln w="25400">
            <a:solidFill>
              <a:srgbClr val="5C716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2904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651504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1504" y="27432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outcomes; formalize data-sharing agreements with the Ministry of Health.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1784" y="3557016"/>
            <a:ext cx="405384" cy="9144"/>
          </a:xfrm>
          <a:prstGeom prst="line">
            <a:avLst/>
          </a:prstGeom>
          <a:noFill/>
          <a:ln w="25400">
            <a:solidFill>
              <a:srgbClr val="5C716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97168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0B5D52"/>
          </a:solidFill>
          <a:ln/>
        </p:spPr>
      </p:sp>
      <p:sp>
        <p:nvSpPr>
          <p:cNvPr id="12" name="Text 10"/>
          <p:cNvSpPr/>
          <p:nvPr/>
        </p:nvSpPr>
        <p:spPr>
          <a:xfrm>
            <a:off x="6525768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25768" y="27432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Multi-district rollout with full DHIS2 / national HMIS interoperability.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66048" y="3557016"/>
            <a:ext cx="405384" cy="9144"/>
          </a:xfrm>
          <a:prstGeom prst="line">
            <a:avLst/>
          </a:prstGeom>
          <a:noFill/>
          <a:ln w="25400">
            <a:solidFill>
              <a:srgbClr val="5C716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71432" y="1920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400032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00032" y="27432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across additional countries and health systems.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B5D5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 for maternal survival.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in the fragmented system today is a place a mother can be lost. AMHOS closes those gaps — one continuous, offline-first pathway from village to hospital.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partnership and investment.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AMHOS — AI Maternal Health Operating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2026-07-30T20:07:27Z</dcterms:created>
  <dcterms:modified xsi:type="dcterms:W3CDTF">2026-07-30T20:07:27Z</dcterms:modified>
</cp:coreProperties>
</file>